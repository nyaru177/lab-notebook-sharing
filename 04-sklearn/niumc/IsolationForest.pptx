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9" r:id="rId5"/>
    <p:sldId id="260" r:id="rId6"/>
    <p:sldId id="261" r:id="rId7"/>
    <p:sldId id="262" r:id="rId8"/>
    <p:sldId id="258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IsolationForest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IsolationForest（</a:t>
            </a:r>
            <a:r>
              <a:rPr lang="zh-CN" altLang="en-US"/>
              <a:t>孤立森林）是 </a:t>
            </a:r>
            <a:r>
              <a:rPr lang="en-US" altLang="zh-CN"/>
              <a:t>scikit-learn </a:t>
            </a:r>
            <a:r>
              <a:rPr lang="zh-CN" altLang="en-US"/>
              <a:t>集成学习模块中的无监督异常检测算法</a:t>
            </a:r>
            <a:endParaRPr lang="zh-CN" altLang="en-US"/>
          </a:p>
          <a:p>
            <a:r>
              <a:rPr lang="zh-CN" altLang="en-US"/>
              <a:t>其核心是：异常样本是 “少数且特征异于常态” 的点，在随机划分特征空间的过程中，异常点（离群点）具有“少而不同”的特性，因此它们更容易被“孤立”。</a:t>
            </a:r>
            <a:endParaRPr lang="zh-CN" altLang="en-US"/>
          </a:p>
          <a:p>
            <a:r>
              <a:rPr lang="zh-CN" altLang="en-US"/>
              <a:t>该算法无需计算样本距离或密度，计算效率远高于基于距离 / 密度的异常检测方法，尤其适合高维、大规模数据集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森林结构参数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zh-CN"/>
              <a:t>n_estimators : int, default=100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森林中孤立树的总数量。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数值越大模型结果越稳定，但计算耗时线性增加；通常 100 棵树即可收敛，万级以上样本可适当增加到 150~200。</a:t>
            </a:r>
            <a:endParaRPr lang="zh-CN" altLang="en-US"/>
          </a:p>
          <a:p>
            <a:r>
              <a:rPr lang="en-US" altLang="zh-CN"/>
              <a:t>max_samples : "auto" | int | float, default="auto"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训练每一棵孤立树时抽取的子样本数量：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若为 </a:t>
            </a:r>
            <a:r>
              <a:rPr lang="en-US" altLang="zh-CN"/>
              <a:t>int：</a:t>
            </a:r>
            <a:r>
              <a:rPr lang="zh-CN" altLang="en-US"/>
              <a:t>直接抽取固定数量的样本；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若为 </a:t>
            </a:r>
            <a:r>
              <a:rPr lang="en-US" altLang="zh-CN"/>
              <a:t>float：</a:t>
            </a:r>
            <a:r>
              <a:rPr lang="zh-CN" altLang="en-US"/>
              <a:t>抽取 </a:t>
            </a:r>
            <a:r>
              <a:rPr lang="en-US" altLang="zh-CN"/>
              <a:t>max_samples * </a:t>
            </a:r>
            <a:r>
              <a:rPr lang="zh-CN" altLang="en-US"/>
              <a:t>总样本数 比例的样本；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若为 "</a:t>
            </a:r>
            <a:r>
              <a:rPr lang="en-US" altLang="zh-CN"/>
              <a:t>auto"：</a:t>
            </a:r>
            <a:r>
              <a:rPr lang="zh-CN" altLang="en-US"/>
              <a:t>取 </a:t>
            </a:r>
            <a:r>
              <a:rPr lang="en-US" altLang="zh-CN"/>
              <a:t>min(256, </a:t>
            </a:r>
            <a:r>
              <a:rPr lang="zh-CN" altLang="en-US"/>
              <a:t>总样本数)，即样本量大于 256 时每棵树仅用 256 个样本，不足则用全部样本。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森林结构</a:t>
            </a:r>
            <a:r>
              <a:rPr lang="zh-CN" altLang="en-US"/>
              <a:t>参数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max_features : int | float, default=1.0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训练每一棵孤立树时抽取的特征数量：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若为 </a:t>
            </a:r>
            <a:r>
              <a:rPr lang="en-US" altLang="zh-CN"/>
              <a:t>int：</a:t>
            </a:r>
            <a:r>
              <a:rPr lang="zh-CN" altLang="en-US"/>
              <a:t>选取固定数量的特征；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若为 </a:t>
            </a:r>
            <a:r>
              <a:rPr lang="en-US" altLang="zh-CN"/>
              <a:t>float：</a:t>
            </a:r>
            <a:r>
              <a:rPr lang="zh-CN" altLang="en-US"/>
              <a:t>选取 </a:t>
            </a:r>
            <a:r>
              <a:rPr lang="en-US" altLang="zh-CN"/>
              <a:t>max_features * </a:t>
            </a:r>
            <a:r>
              <a:rPr lang="zh-CN" altLang="en-US"/>
              <a:t>总特征数 比例的特征。</a:t>
            </a:r>
            <a:endParaRPr lang="zh-CN" altLang="en-US"/>
          </a:p>
          <a:p>
            <a:r>
              <a:rPr lang="en-US" altLang="zh-CN"/>
              <a:t>contamination : "auto" | float, default="auto"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数据集的 “污染度”，即预期异常样本占总样本的比例，用于决定异常判定的阈值。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若为 "</a:t>
            </a:r>
            <a:r>
              <a:rPr lang="en-US" altLang="zh-CN"/>
              <a:t>auto"：</a:t>
            </a:r>
            <a:r>
              <a:rPr lang="zh-CN" altLang="en-US"/>
              <a:t>对应原始异常分数 0.5 为分界；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若为 </a:t>
            </a:r>
            <a:r>
              <a:rPr lang="en-US" altLang="zh-CN"/>
              <a:t>float：</a:t>
            </a:r>
            <a:r>
              <a:rPr lang="zh-CN" altLang="en-US"/>
              <a:t>取值范围为 (0, 0.5]，模型会自适应调整阈值，使得训练集中恰好有对应比例的样本被判定为异常。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训练参数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/>
              <a:t>bootstrap : bool, default=False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子采样是否采用有放回抽样</a:t>
            </a:r>
            <a:r>
              <a:rPr lang="en-US" altLang="zh-CN"/>
              <a:t>：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False：</a:t>
            </a:r>
            <a:r>
              <a:rPr lang="zh-CN" altLang="en-US"/>
              <a:t>不放回抽样，每棵树的样本无重复；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True：</a:t>
            </a:r>
            <a:r>
              <a:rPr lang="zh-CN" altLang="en-US"/>
              <a:t>有放回抽样，类似 </a:t>
            </a:r>
            <a:r>
              <a:rPr lang="en-US" altLang="zh-CN"/>
              <a:t>Bagging </a:t>
            </a:r>
            <a:r>
              <a:rPr lang="zh-CN" altLang="en-US"/>
              <a:t>机制，适合样本量较小的场景。</a:t>
            </a:r>
            <a:endParaRPr lang="zh-CN" altLang="en-US"/>
          </a:p>
          <a:p>
            <a:r>
              <a:rPr lang="en-US" altLang="zh-CN"/>
              <a:t>n_jobs : int, default=None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并行训练的 </a:t>
            </a:r>
            <a:r>
              <a:rPr lang="en-US" altLang="zh-CN"/>
              <a:t>CPU </a:t>
            </a:r>
            <a:r>
              <a:rPr lang="zh-CN" altLang="en-US"/>
              <a:t>核心数：树的训练相互独立，并行可显著提升训练速度。</a:t>
            </a:r>
            <a:endParaRPr lang="zh-CN" altLang="en-US"/>
          </a:p>
          <a:p>
            <a:r>
              <a:rPr lang="en-US" altLang="zh-CN"/>
              <a:t>random_state : int | RandomState | None, default=None</a:t>
            </a:r>
            <a:endParaRPr lang="en-US" altLang="zh-CN"/>
          </a:p>
          <a:p>
            <a:r>
              <a:rPr lang="en-US" altLang="zh-CN"/>
              <a:t>warm_start : bool, default=False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热启动开关：设为 </a:t>
            </a:r>
            <a:r>
              <a:rPr lang="en-US" altLang="zh-CN"/>
              <a:t>True </a:t>
            </a:r>
            <a:r>
              <a:rPr lang="zh-CN" altLang="en-US"/>
              <a:t>时，再次调用 </a:t>
            </a:r>
            <a:r>
              <a:rPr lang="en-US" altLang="zh-CN"/>
              <a:t>fit() </a:t>
            </a:r>
            <a:r>
              <a:rPr lang="zh-CN" altLang="en-US"/>
              <a:t>不会重新训练全部树，而是在已有森林基础上新增 </a:t>
            </a:r>
            <a:r>
              <a:rPr lang="en-US" altLang="zh-CN"/>
              <a:t>n_estimators </a:t>
            </a:r>
            <a:r>
              <a:rPr lang="zh-CN" altLang="en-US"/>
              <a:t>棵树；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训练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/>
              <a:t> fit(X, y=None, sample_weight=None)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训练孤立森林模型。</a:t>
            </a:r>
            <a:endParaRPr lang="zh-CN" altLang="en-US"/>
          </a:p>
          <a:p>
            <a:r>
              <a:rPr lang="en-US" altLang="zh-CN"/>
              <a:t>score_samples(X)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计算每个样本的原始异常分数，返回值：形状为 (</a:t>
            </a:r>
            <a:r>
              <a:rPr lang="en-US" altLang="zh-CN"/>
              <a:t>n_samples,) </a:t>
            </a:r>
            <a:r>
              <a:rPr lang="zh-CN" altLang="en-US"/>
              <a:t>的浮点数数组，取值范围大致为 [-1, 0]，越接近 0 样本越正常，越接近 -1 样本越异常。</a:t>
            </a:r>
            <a:endParaRPr lang="zh-CN" altLang="en-US"/>
          </a:p>
          <a:p>
            <a:r>
              <a:rPr lang="en-US" altLang="zh-CN"/>
              <a:t>decision_function(X)=score−offset_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计算样本的决策函数值。返回值：形状为 (</a:t>
            </a:r>
            <a:r>
              <a:rPr lang="en-US" altLang="zh-CN"/>
              <a:t>n_samples,) </a:t>
            </a:r>
            <a:r>
              <a:rPr lang="zh-CN" altLang="en-US"/>
              <a:t>的浮点数数组；</a:t>
            </a:r>
            <a:endParaRPr lang="zh-CN" altLang="en-US"/>
          </a:p>
          <a:p>
            <a:r>
              <a:rPr lang="en-US" altLang="zh-CN"/>
              <a:t>predict(X)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预测样本是否为异常。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返回值：形状为 (</a:t>
            </a:r>
            <a:r>
              <a:rPr lang="en-US" altLang="zh-CN"/>
              <a:t>n_samples,) </a:t>
            </a:r>
            <a:r>
              <a:rPr lang="zh-CN" altLang="en-US"/>
              <a:t>的数组，取值为 1（正常样本）或 -1（异常样本）。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判定规则：</a:t>
            </a:r>
            <a:r>
              <a:rPr lang="en-US" altLang="zh-CN"/>
              <a:t>decision_function(X) &lt; 0 → </a:t>
            </a:r>
            <a:r>
              <a:rPr lang="zh-CN" altLang="en-US"/>
              <a:t>判定为异常（返回 -1），否则为正常。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孤立森林用于图像篡改识别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孤立森林做图像篡改识别属于无监督局部异常检测方案，核心逻辑：</a:t>
            </a:r>
            <a:endParaRPr lang="zh-CN" altLang="en-US"/>
          </a:p>
          <a:p>
            <a:r>
              <a:rPr lang="zh-CN" altLang="en-US"/>
              <a:t>将整张图像通过滑动窗口切分为大量局部图像块；</a:t>
            </a:r>
            <a:endParaRPr lang="zh-CN" altLang="en-US"/>
          </a:p>
          <a:p>
            <a:r>
              <a:rPr lang="zh-CN" altLang="en-US"/>
              <a:t>提取每个图像块的灰度统计、纹理特征，正常区域的特征分布高度一致，篡改区域（复制粘贴、拼接、抹除、提亮 / 变暗）的特征会显著异于常态；</a:t>
            </a:r>
            <a:endParaRPr lang="zh-CN" altLang="en-US"/>
          </a:p>
          <a:p>
            <a:r>
              <a:rPr lang="zh-CN" altLang="en-US"/>
              <a:t>用孤立森林对所有图像块特征做异常检测，标记出特征异常的块，映射回原图坐标即可定位篡改区域。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当一张图像被篡改（如拼接、复制粘贴、涂抹、删除）时，篡改区域和原始区域在物理和统计特征上必然会产生不一致。这种不一致在数学特征空间里，就表现为“异常”。</a:t>
            </a:r>
            <a:endParaRPr lang="zh-CN" altLang="en-US"/>
          </a:p>
          <a:p>
            <a:r>
              <a:rPr lang="zh-CN" altLang="en-US"/>
              <a:t>常见的“不一致”包括：</a:t>
            </a:r>
            <a:endParaRPr lang="zh-CN" altLang="en-US"/>
          </a:p>
          <a:p>
            <a:r>
              <a:rPr lang="zh-CN" altLang="en-US"/>
              <a:t>噪声不一致：不同来源的图像（拼接）或不同压缩质量（修图）会导致篡改区域和背景区域的传感器噪声、</a:t>
            </a:r>
            <a:r>
              <a:rPr lang="en-US" altLang="zh-CN"/>
              <a:t>JPEG</a:t>
            </a:r>
            <a:r>
              <a:rPr lang="zh-CN" altLang="en-US"/>
              <a:t>压缩噪声不同。</a:t>
            </a:r>
            <a:endParaRPr lang="zh-CN" altLang="en-US"/>
          </a:p>
          <a:p>
            <a:r>
              <a:rPr lang="zh-CN" altLang="en-US"/>
              <a:t>光照与色彩不一致：拼接进来的物体，其光照方向、色温、对比度往往与原图背景有微小差异。</a:t>
            </a:r>
            <a:endParaRPr lang="zh-CN" altLang="en-US"/>
          </a:p>
          <a:p>
            <a:r>
              <a:rPr lang="zh-CN" altLang="en-US"/>
              <a:t>边缘与纹理不一致：复制粘贴或涂抹的区域，其纹理的连续性会被破坏，边缘处会有不自然的过渡。</a:t>
            </a:r>
            <a:endParaRPr lang="zh-CN" altLang="en-US"/>
          </a:p>
          <a:p>
            <a:r>
              <a:rPr lang="zh-CN" altLang="en-US"/>
              <a:t>频域特征异常：在傅里叶变换等频域分析中，篡改区域往往会引入异常的周期性信号或高频/低频突变。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1879</Words>
  <Application>WPS 文字</Application>
  <PresentationFormat>宽屏</PresentationFormat>
  <Paragraphs>67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mjamu</cp:lastModifiedBy>
  <cp:revision>164</cp:revision>
  <dcterms:created xsi:type="dcterms:W3CDTF">2026-07-17T09:04:27Z</dcterms:created>
  <dcterms:modified xsi:type="dcterms:W3CDTF">2026-07-17T09:04:27Z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E5933707A79676E3C2BD596A0AFC3BD7_41</vt:lpwstr>
  </property>
</Properties>
</file>